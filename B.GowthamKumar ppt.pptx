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2" r:id="rId15"/>
    <p:sldId id="270" r:id="rId16"/>
    <p:sldId id="265" r:id="rId17"/>
  </p:sldIdLst>
  <p:sldSz cx="18288000" cy="10287000"/>
  <p:notesSz cx="6858000" cy="9144000"/>
  <p:embeddedFontLst>
    <p:embeddedFont>
      <p:font typeface="Calibri" pitchFamily="34" charset="0"/>
      <p:regular r:id="rId18"/>
      <p:bold r:id="rId19"/>
      <p:italic r:id="rId20"/>
      <p:boldItalic r:id="rId21"/>
    </p:embeddedFont>
    <p:embeddedFont>
      <p:font typeface="Cambria" pitchFamily="18" charset="0"/>
      <p:regular r:id="rId22"/>
      <p:bold r:id="rId23"/>
      <p:italic r:id="rId24"/>
      <p:boldItalic r:id="rId25"/>
    </p:embeddedFont>
    <p:embeddedFont>
      <p:font typeface="Bookman Old Style" pitchFamily="18" charset="0"/>
      <p:regular r:id="rId26"/>
      <p:bold r:id="rId27"/>
      <p:italic r:id="rId28"/>
      <p:boldItalic r:id="rId29"/>
    </p:embeddedFont>
    <p:embeddedFont>
      <p:font typeface="Gotham" charset="0"/>
      <p:regular r:id="rId30"/>
    </p:embeddedFont>
    <p:embeddedFont>
      <p:font typeface="Gotham Bold Italics"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33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348599-E7A9-472E-9DFC-CA4D041A0168}" v="4" dt="2026-05-05T17:05:11.8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autoAdjust="0"/>
    <p:restoredTop sz="94622" autoAdjust="0"/>
  </p:normalViewPr>
  <p:slideViewPr>
    <p:cSldViewPr>
      <p:cViewPr varScale="1">
        <p:scale>
          <a:sx n="53" d="100"/>
          <a:sy n="53" d="100"/>
        </p:scale>
        <p:origin x="-754"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xmlns="" id="{1194AAA3-5CF4-E695-04C9-0894FFF6F1F1}"/>
              </a:ext>
            </a:extLst>
          </p:cNvPr>
          <p:cNvPicPr>
            <a:picLocks noChangeAspect="1"/>
          </p:cNvPicPr>
          <p:nvPr/>
        </p:nvPicPr>
        <p:blipFill>
          <a:blip r:embed="rId2" cstate="print"/>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xmlns=""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xmlns=""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xmlns="" id="{AC6C53BF-3850-6683-E07F-D595EC8B02B2}"/>
              </a:ext>
            </a:extLst>
          </p:cNvPr>
          <p:cNvSpPr txBox="1"/>
          <p:nvPr/>
        </p:nvSpPr>
        <p:spPr>
          <a:xfrm>
            <a:off x="3727757" y="3989338"/>
            <a:ext cx="11190289" cy="2308324"/>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a:p>
            <a:pPr algn="ctr"/>
            <a:endParaRPr lang="en-IN" sz="3600" b="1" dirty="0">
              <a:solidFill>
                <a:srgbClr val="C00000"/>
              </a:solidFill>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xmlns="" id="{7FFE0DA2-4723-7C13-5FD7-FC99B0394DDD}"/>
              </a:ext>
            </a:extLst>
          </p:cNvPr>
          <p:cNvSpPr txBox="1"/>
          <p:nvPr/>
        </p:nvSpPr>
        <p:spPr>
          <a:xfrm>
            <a:off x="1251919" y="6019895"/>
            <a:ext cx="15784162" cy="646331"/>
          </a:xfrm>
          <a:prstGeom prst="rect">
            <a:avLst/>
          </a:prstGeom>
          <a:noFill/>
        </p:spPr>
        <p:txBody>
          <a:bodyPr wrap="square" rtlCol="0">
            <a:spAutoFit/>
          </a:bodyPr>
          <a:lstStyle/>
          <a:p>
            <a:pPr algn="ctr"/>
            <a:r>
              <a:rPr lang="en-US" sz="36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36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xmlns="" id="{EA8EEF4A-EB43-B7D9-87FC-7C7D752BCA78}"/>
              </a:ext>
            </a:extLst>
          </p:cNvPr>
          <p:cNvSpPr txBox="1"/>
          <p:nvPr/>
        </p:nvSpPr>
        <p:spPr>
          <a:xfrm>
            <a:off x="893870" y="7800539"/>
            <a:ext cx="9067800" cy="1477328"/>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smtClean="0">
                <a:latin typeface="Cambria" panose="02040503050406030204" pitchFamily="18" charset="0"/>
                <a:ea typeface="Cambria" panose="02040503050406030204" pitchFamily="18" charset="0"/>
              </a:rPr>
              <a:t>B.Gowtham</a:t>
            </a:r>
            <a:r>
              <a:rPr lang="en-US" sz="3000" dirty="0" smtClean="0">
                <a:latin typeface="Cambria" panose="02040503050406030204" pitchFamily="18" charset="0"/>
                <a:ea typeface="Cambria" panose="02040503050406030204" pitchFamily="18" charset="0"/>
              </a:rPr>
              <a:t> Kumar</a:t>
            </a:r>
            <a:r>
              <a:rPr lang="en-US" sz="3000" dirty="0" smtClean="0">
                <a:latin typeface="Cambria" panose="02040503050406030204" pitchFamily="18" charset="0"/>
                <a:ea typeface="Cambria" panose="02040503050406030204" pitchFamily="18" charset="0"/>
              </a:rPr>
              <a:t>– VTU26616 </a:t>
            </a:r>
            <a:r>
              <a:rPr lang="en-US" sz="3000" dirty="0">
                <a:latin typeface="Cambria" panose="02040503050406030204" pitchFamily="18" charset="0"/>
                <a:ea typeface="Cambria" panose="02040503050406030204" pitchFamily="18" charset="0"/>
              </a:rPr>
              <a:t>– </a:t>
            </a:r>
            <a:r>
              <a:rPr lang="en-US" sz="3000" dirty="0" smtClean="0">
                <a:latin typeface="Cambria" panose="02040503050406030204" pitchFamily="18" charset="0"/>
                <a:ea typeface="Cambria" panose="02040503050406030204" pitchFamily="18" charset="0"/>
              </a:rPr>
              <a:t>23UECS0102</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xmlns="" id="{6FF32D1A-2F9C-AC53-CCBD-ABF748DF236F}"/>
              </a:ext>
            </a:extLst>
          </p:cNvPr>
          <p:cNvSpPr txBox="1"/>
          <p:nvPr/>
        </p:nvSpPr>
        <p:spPr>
          <a:xfrm>
            <a:off x="10945035" y="7818586"/>
            <a:ext cx="6914603" cy="216982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smtClean="0">
                <a:latin typeface="Cambria" panose="02040503050406030204" pitchFamily="18" charset="0"/>
                <a:ea typeface="Cambria" panose="02040503050406030204" pitchFamily="18" charset="0"/>
              </a:rPr>
              <a:t>Dr. </a:t>
            </a:r>
            <a:r>
              <a:rPr lang="en-US" sz="3000" dirty="0" err="1" smtClean="0">
                <a:latin typeface="Cambria" panose="02040503050406030204" pitchFamily="18" charset="0"/>
                <a:ea typeface="Cambria" panose="02040503050406030204" pitchFamily="18" charset="0"/>
              </a:rPr>
              <a:t>Hafizur</a:t>
            </a:r>
            <a:r>
              <a:rPr lang="en-US" sz="3000" dirty="0" smtClean="0">
                <a:latin typeface="Cambria" panose="02040503050406030204" pitchFamily="18" charset="0"/>
                <a:ea typeface="Cambria" panose="02040503050406030204" pitchFamily="18" charset="0"/>
              </a:rPr>
              <a:t> </a:t>
            </a:r>
            <a:r>
              <a:rPr lang="en-US" sz="3000" dirty="0" err="1" smtClean="0">
                <a:latin typeface="Cambria" panose="02040503050406030204" pitchFamily="18" charset="0"/>
                <a:ea typeface="Cambria" panose="02040503050406030204" pitchFamily="18" charset="0"/>
              </a:rPr>
              <a:t>Rahman.M.Tech.,Ph.D</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Assistant </a:t>
            </a:r>
            <a:r>
              <a:rPr lang="en-US" sz="3000" dirty="0" smtClean="0">
                <a:latin typeface="Cambria" panose="02040503050406030204" pitchFamily="18" charset="0"/>
                <a:ea typeface="Cambria" panose="02040503050406030204" pitchFamily="18" charset="0"/>
              </a:rPr>
              <a:t>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xmlns="" id="{A7AA51DE-E8D7-A1B4-BC0D-B25C8A0C467A}"/>
              </a:ext>
            </a:extLst>
          </p:cNvPr>
          <p:cNvSpPr txBox="1"/>
          <p:nvPr/>
        </p:nvSpPr>
        <p:spPr>
          <a:xfrm>
            <a:off x="2209800" y="6972300"/>
            <a:ext cx="14743170" cy="707886"/>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- 4 Quality Education</a:t>
            </a:r>
          </a:p>
          <a:p>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xmlns=""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xmlns="" id="{837E9E58-77B6-079D-9D0D-E380CADAD23D}"/>
              </a:ext>
            </a:extLst>
          </p:cNvPr>
          <p:cNvSpPr txBox="1"/>
          <p:nvPr/>
        </p:nvSpPr>
        <p:spPr>
          <a:xfrm>
            <a:off x="2209800" y="1638300"/>
            <a:ext cx="15082325" cy="12157174"/>
          </a:xfrm>
          <a:prstGeom prst="rect">
            <a:avLst/>
          </a:prstGeom>
          <a:noFill/>
        </p:spPr>
        <p:txBody>
          <a:bodyPr wrap="square" rtlCol="0">
            <a:spAutoFit/>
          </a:bodyPr>
          <a:lstStyle/>
          <a:p>
            <a:pPr algn="just"/>
            <a:r>
              <a:rPr lang="en-US" sz="2800" b="1" dirty="0">
                <a:latin typeface="Times New Roman" panose="02020603050405020304" pitchFamily="18" charset="0"/>
                <a:cs typeface="Times New Roman" panose="02020603050405020304" pitchFamily="18" charset="0"/>
              </a:rPr>
              <a:t>Background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Managing campus events manually using notices or spreadsheets is inefficient and leads to poor communication and data management. This creates difficulties in tracking event details, registrations, and updates for both students and administrators.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Need for the project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 is a need for a centralized system to manage campus events efficiently and reduce manual work. This project helps streamline event creation, registration, and tracking, improving overall organization and user experience.</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Real-World Relevance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system can be used in colleges and universities to efficiently manage multiple events and student registrations. It reflects real-world applications where digital platforms simplify event coordination and improve communication between users and organizers.</a:t>
            </a:r>
          </a:p>
          <a:p>
            <a:pPr marL="457200" indent="-457200" algn="just">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System Overview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is a web-based application where students can view and register for campus events, while administrators can create, update, and manage event details. It uses Spring Boot, JPA, and Thymeleaf to provide a structured and user-friendly event management platform.</a:t>
            </a:r>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xmlns=""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BDE2941C-1504-53F9-99B2-48002CA9A345}"/>
              </a:ext>
            </a:extLst>
          </p:cNvPr>
          <p:cNvSpPr txBox="1"/>
          <p:nvPr/>
        </p:nvSpPr>
        <p:spPr>
          <a:xfrm>
            <a:off x="2209800" y="1638300"/>
            <a:ext cx="15082325" cy="10433625"/>
          </a:xfrm>
          <a:prstGeom prst="rect">
            <a:avLst/>
          </a:prstGeom>
          <a:noFill/>
        </p:spPr>
        <p:txBody>
          <a:bodyPr wrap="square" rtlCol="0">
            <a:spAutoFit/>
          </a:bodyPr>
          <a:lstStyle/>
          <a:p>
            <a:pPr algn="just"/>
            <a:r>
              <a:rPr lang="en-US" sz="2800" dirty="0">
                <a:latin typeface="Times New Roman" panose="02020603050405020304" pitchFamily="18" charset="0"/>
                <a:cs typeface="Times New Roman" panose="02020603050405020304" pitchFamily="18" charset="0"/>
              </a:rPr>
              <a:t>                              In many educational institutions, campus event management is still handled through manual or semi-digital methods, leading to inefficiencies and lack of coordination. Event information is often fragmented, making it difficult for students to stay informed and participate effectively.</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Administrators face challenges in managing registrations, updating event details, and maintaining accurate records. The absence of a centralized system results in poor communication and limited scalability. </a:t>
            </a:r>
          </a:p>
          <a:p>
            <a:pPr algn="just"/>
            <a:endParaRPr lang="en-US" sz="2800" dirty="0">
              <a:latin typeface="Times New Roman" panose="02020603050405020304" pitchFamily="18" charset="0"/>
              <a:cs typeface="Times New Roman" panose="02020603050405020304" pitchFamily="18" charset="0"/>
            </a:endParaRPr>
          </a:p>
          <a:p>
            <a:pPr algn="just"/>
            <a:r>
              <a:rPr lang="en-US" sz="2800" dirty="0">
                <a:latin typeface="Times New Roman" panose="02020603050405020304" pitchFamily="18" charset="0"/>
                <a:cs typeface="Times New Roman" panose="02020603050405020304" pitchFamily="18" charset="0"/>
              </a:rPr>
              <a:t> These limitations affect the overall efficiency and organization of campus activities. Therefore, there is a strong need for a structured, reliable, and automated solution to streamline event management and enhance user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xmlns=""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xmlns=""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52" name="TextBox 51">
            <a:extLst>
              <a:ext uri="{FF2B5EF4-FFF2-40B4-BE49-F238E27FC236}">
                <a16:creationId xmlns:a16="http://schemas.microsoft.com/office/drawing/2014/main" xmlns="" id="{056A0A3A-1541-5EC0-5370-02DA282ABDDE}"/>
              </a:ext>
            </a:extLst>
          </p:cNvPr>
          <p:cNvSpPr txBox="1"/>
          <p:nvPr/>
        </p:nvSpPr>
        <p:spPr>
          <a:xfrm>
            <a:off x="2209800" y="1864459"/>
            <a:ext cx="15082325" cy="6555641"/>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design and develop a web-based campus event management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a centralized platform for event creation, registration, and management.</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improve communication and accessibility of event information for students.</a:t>
            </a:r>
          </a:p>
          <a:p>
            <a:pPr algn="just"/>
            <a:r>
              <a:rPr lang="en-US" sz="2800" dirty="0">
                <a:latin typeface="Times New Roman" panose="02020603050405020304" pitchFamily="18" charset="0"/>
                <a:cs typeface="Times New Roman" panose="02020603050405020304" pitchFamily="18" charset="0"/>
              </a:rPr>
              <a:t> </a:t>
            </a: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enhance data management and reduce manual effort in handling campus events. </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xmlns=""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6" name="TextBox 45">
            <a:extLst>
              <a:ext uri="{FF2B5EF4-FFF2-40B4-BE49-F238E27FC236}">
                <a16:creationId xmlns:a16="http://schemas.microsoft.com/office/drawing/2014/main" xmlns=""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E8F19716-1653-9AE0-442E-B3829A585B46}"/>
              </a:ext>
            </a:extLst>
          </p:cNvPr>
          <p:cNvSpPr txBox="1"/>
          <p:nvPr/>
        </p:nvSpPr>
        <p:spPr>
          <a:xfrm>
            <a:off x="2069724" y="1861861"/>
            <a:ext cx="15082325" cy="5693866"/>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6" name="TextBox 5">
            <a:extLst>
              <a:ext uri="{FF2B5EF4-FFF2-40B4-BE49-F238E27FC236}">
                <a16:creationId xmlns:a16="http://schemas.microsoft.com/office/drawing/2014/main" xmlns="" id="{599EC198-7920-2291-6A21-B20137D8EAFD}"/>
              </a:ext>
            </a:extLst>
          </p:cNvPr>
          <p:cNvSpPr txBox="1"/>
          <p:nvPr/>
        </p:nvSpPr>
        <p:spPr>
          <a:xfrm>
            <a:off x="2573955" y="1741463"/>
            <a:ext cx="14578093" cy="6986528"/>
          </a:xfrm>
          <a:prstGeom prst="rect">
            <a:avLst/>
          </a:prstGeom>
          <a:noFill/>
        </p:spPr>
        <p:txBody>
          <a:bodyPr wrap="square" rtlCol="0">
            <a:spAutoFit/>
          </a:bodyPr>
          <a:lstStyle/>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proposed system is a web-based application designed to manage campus events efficiently.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provides a centralized platform for students and administrators to interact.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Students can view upcoming events, register online, and track their participation.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Administrators can create, update, and delete event details through a secure interface.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automates event management, reducing manual effort and errors.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ensures real-time updates and easy access to event information.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is stored and managed securely using a database system. </a:t>
            </a:r>
          </a:p>
          <a:p>
            <a:pPr marL="457200" indent="-45720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it improves efficiency, organization, and user experience compared to traditional methods.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xmlns=""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2" name="TextBox 41">
            <a:extLst>
              <a:ext uri="{FF2B5EF4-FFF2-40B4-BE49-F238E27FC236}">
                <a16:creationId xmlns:a16="http://schemas.microsoft.com/office/drawing/2014/main" xmlns=""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xmlns="" id="{25F9D4B0-38FE-DBA4-164D-1745B68379A5}"/>
              </a:ext>
            </a:extLst>
          </p:cNvPr>
          <p:cNvSpPr txBox="1"/>
          <p:nvPr/>
        </p:nvSpPr>
        <p:spPr>
          <a:xfrm>
            <a:off x="2164060" y="1686924"/>
            <a:ext cx="15082325" cy="1415772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Input</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(students/admins) interact through web pages.</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Input includes event details, registration forms, login data </a:t>
            </a:r>
          </a:p>
          <a:p>
            <a:r>
              <a:rPr lang="en-US" sz="2400" b="1" dirty="0">
                <a:latin typeface="Times New Roman" panose="02020603050405020304" pitchFamily="18" charset="0"/>
                <a:cs typeface="Times New Roman" panose="02020603050405020304" pitchFamily="18" charset="0"/>
              </a:rPr>
              <a:t>Processing</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Controller receives user requests.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Service layer processes business logic. </a:t>
            </a: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Example: validating data, handling registrations.</a:t>
            </a:r>
          </a:p>
          <a:p>
            <a:r>
              <a:rPr lang="en-US" sz="2400" b="1" dirty="0">
                <a:latin typeface="Times New Roman" panose="02020603050405020304" pitchFamily="18" charset="0"/>
                <a:cs typeface="Times New Roman" panose="02020603050405020304" pitchFamily="18" charset="0"/>
              </a:rPr>
              <a:t>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is stored in MySQL database.</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Tables like: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Managed using Spring Data JPA.</a:t>
            </a:r>
          </a:p>
          <a:p>
            <a:r>
              <a:rPr lang="en-US" sz="2400" b="1" dirty="0">
                <a:latin typeface="Times New Roman" panose="02020603050405020304" pitchFamily="18" charset="0"/>
                <a:cs typeface="Times New Roman" panose="02020603050405020304" pitchFamily="18" charset="0"/>
              </a:rPr>
              <a:t>Output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Processed data is displayed using Thymeleaf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Users can see: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Event list.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Registration confirmation. </a:t>
            </a:r>
          </a:p>
          <a:p>
            <a:pPr marL="800100" lvl="1"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Updated event details.</a:t>
            </a:r>
          </a:p>
          <a:p>
            <a:r>
              <a:rPr lang="en-US" sz="2000" dirty="0">
                <a:latin typeface="Times New Roman" panose="02020603050405020304" pitchFamily="18" charset="0"/>
                <a:cs typeface="Times New Roman" panose="02020603050405020304" pitchFamily="18" charset="0"/>
              </a:rPr>
              <a:t> </a:t>
            </a:r>
          </a:p>
          <a:p>
            <a:endParaRPr lang="en-US"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p>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xmlns="" id="{26F04B43-6248-8EAF-3D9A-B1C9B4DCCE25}"/>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8839201" y="3146802"/>
            <a:ext cx="8869424" cy="588289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xmlns=""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xmlns=""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xmlns="" id="{B4339DB1-8A26-2612-A89C-20D33CFA53A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971799" y="1741463"/>
            <a:ext cx="13341621" cy="73644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xmlns=""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7" name="TextBox 46">
            <a:extLst>
              <a:ext uri="{FF2B5EF4-FFF2-40B4-BE49-F238E27FC236}">
                <a16:creationId xmlns:a16="http://schemas.microsoft.com/office/drawing/2014/main" xmlns=""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xmlns="" id="{26E9F5F9-CCF8-6F05-4C01-034C88D7529E}"/>
              </a:ext>
            </a:extLst>
          </p:cNvPr>
          <p:cNvSpPr txBox="1"/>
          <p:nvPr/>
        </p:nvSpPr>
        <p:spPr>
          <a:xfrm>
            <a:off x="2490751" y="1830433"/>
            <a:ext cx="15082325" cy="13449836"/>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Frontend:</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HTML5, CSS3, JavaScript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Backend:</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Java, Spring Boot, Spring MVC, Spring Data JPA</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Database:</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MySQL</a:t>
            </a:r>
          </a:p>
          <a:p>
            <a:r>
              <a:rPr lang="en-US" sz="2800" b="1" dirty="0">
                <a:latin typeface="Times New Roman" panose="02020603050405020304" pitchFamily="18" charset="0"/>
                <a:cs typeface="Times New Roman" panose="02020603050405020304" pitchFamily="18" charset="0"/>
              </a:rPr>
              <a:t>Tools:</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VS Code / Eclipse, Maven, Postman, Git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Hardware/Software Requirements:</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4GB RAM (minimum)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Dual-core processor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Java JDK 17+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MySQL Server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Web Browser (Chrome/Edge)</a:t>
            </a:r>
          </a:p>
          <a:p>
            <a:pPr marL="457200" indent="-457200">
              <a:buFont typeface="Arial" panose="020B0604020202020204" pitchFamily="34" charset="0"/>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US" sz="2800" b="1" dirty="0">
                <a:latin typeface="Times New Roman" panose="02020603050405020304" pitchFamily="18" charset="0"/>
                <a:cs typeface="Times New Roman" panose="02020603050405020304" pitchFamily="18" charset="0"/>
              </a:rPr>
              <a:t>Module 1: User Management</a:t>
            </a:r>
          </a:p>
          <a:p>
            <a:r>
              <a:rPr lang="en-US" sz="2800" dirty="0">
                <a:latin typeface="Times New Roman" panose="02020603050405020304" pitchFamily="18" charset="0"/>
                <a:cs typeface="Times New Roman" panose="02020603050405020304" pitchFamily="18" charset="0"/>
              </a:rPr>
              <a:t>Handles student and admin login with authentication and role-based access control.</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2: Event Management</a:t>
            </a:r>
          </a:p>
          <a:p>
            <a:r>
              <a:rPr lang="en-US" sz="2800" dirty="0">
                <a:latin typeface="Times New Roman" panose="02020603050405020304" pitchFamily="18" charset="0"/>
                <a:cs typeface="Times New Roman" panose="02020603050405020304" pitchFamily="18" charset="0"/>
              </a:rPr>
              <a:t>Allows admin to create, update, delete, and manage campus events efficiently.</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3: Registration Management</a:t>
            </a:r>
          </a:p>
          <a:p>
            <a:r>
              <a:rPr lang="en-US" sz="2800" dirty="0">
                <a:latin typeface="Times New Roman" panose="02020603050405020304" pitchFamily="18" charset="0"/>
                <a:cs typeface="Times New Roman" panose="02020603050405020304" pitchFamily="18" charset="0"/>
              </a:rPr>
              <a:t>Enables students to register for events and view their registration details.</a:t>
            </a:r>
          </a:p>
          <a:p>
            <a:endParaRPr lang="en-IN"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Module 4: Data Management &amp; Reporting</a:t>
            </a:r>
          </a:p>
          <a:p>
            <a:r>
              <a:rPr lang="en-US" sz="2800" dirty="0">
                <a:latin typeface="Times New Roman" panose="02020603050405020304" pitchFamily="18" charset="0"/>
                <a:cs typeface="Times New Roman" panose="02020603050405020304" pitchFamily="18" charset="0"/>
              </a:rPr>
              <a:t>Manages event and registration data, and provides basic statistics and reports.</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xmlns=""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xmlns=""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xmlns=""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xmlns=""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xmlns=""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xmlns=""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xmlns=""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xmlns=""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xmlns=""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xmlns=""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xmlns=""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xmlns=""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US" sz="2800"/>
          </a:p>
          <a:p>
            <a:pPr marL="457200" indent="-457200">
              <a:buFontTx/>
              <a:buChar char="-"/>
            </a:pPr>
            <a:endParaRPr lang="en-IN" sz="2800" dirty="0"/>
          </a:p>
        </p:txBody>
      </p:sp>
      <p:pic>
        <p:nvPicPr>
          <p:cNvPr id="4" name="Picture 3">
            <a:extLst>
              <a:ext uri="{FF2B5EF4-FFF2-40B4-BE49-F238E27FC236}">
                <a16:creationId xmlns:a16="http://schemas.microsoft.com/office/drawing/2014/main" xmlns="" id="{8209C5A8-F833-A8E1-2CF4-E6F1D4909155}"/>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665734" y="1645617"/>
            <a:ext cx="13710272" cy="6995766"/>
          </a:xfrm>
          <a:prstGeom prst="rect">
            <a:avLst/>
          </a:prstGeom>
        </p:spPr>
      </p:pic>
    </p:spTree>
    <p:extLst>
      <p:ext uri="{BB962C8B-B14F-4D97-AF65-F5344CB8AC3E}">
        <p14:creationId xmlns:p14="http://schemas.microsoft.com/office/powerpoint/2010/main" xmlns=""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xmlns=""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xmlns=""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xmlns=""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xmlns=""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xmlns=""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xmlns=""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xmlns=""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xmlns=""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xmlns=""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xmlns=""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xmlns=""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xmlns=""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746F2C30-13B1-3754-C147-D58A899BC459}"/>
              </a:ext>
            </a:extLst>
          </p:cNvPr>
          <p:cNvSpPr txBox="1"/>
          <p:nvPr/>
        </p:nvSpPr>
        <p:spPr>
          <a:xfrm>
            <a:off x="2291275"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1026" name="Picture 2"/>
          <p:cNvPicPr>
            <a:picLocks noChangeAspect="1" noChangeArrowheads="1"/>
          </p:cNvPicPr>
          <p:nvPr/>
        </p:nvPicPr>
        <p:blipFill>
          <a:blip r:embed="rId3"/>
          <a:srcRect/>
          <a:stretch>
            <a:fillRect/>
          </a:stretch>
        </p:blipFill>
        <p:spPr bwMode="auto">
          <a:xfrm>
            <a:off x="1524000" y="1524000"/>
            <a:ext cx="15240000" cy="7239000"/>
          </a:xfrm>
          <a:prstGeom prst="rect">
            <a:avLst/>
          </a:prstGeom>
          <a:noFill/>
          <a:ln w="9525">
            <a:noFill/>
            <a:miter lim="800000"/>
            <a:headEnd/>
            <a:tailEnd/>
          </a:ln>
          <a:effectLst/>
        </p:spPr>
      </p:pic>
    </p:spTree>
    <p:extLst>
      <p:ext uri="{BB962C8B-B14F-4D97-AF65-F5344CB8AC3E}">
        <p14:creationId xmlns:p14="http://schemas.microsoft.com/office/powerpoint/2010/main" xmlns=""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xmlns=""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xmlns=""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xmlns=""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xmlns=""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xmlns=""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xmlns=""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xmlns=""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xmlns=""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xmlns=""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xmlns=""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xmlns=""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xmlns=""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050" name="Picture 2"/>
          <p:cNvPicPr>
            <a:picLocks noChangeAspect="1" noChangeArrowheads="1"/>
          </p:cNvPicPr>
          <p:nvPr/>
        </p:nvPicPr>
        <p:blipFill>
          <a:blip r:embed="rId3"/>
          <a:srcRect/>
          <a:stretch>
            <a:fillRect/>
          </a:stretch>
        </p:blipFill>
        <p:spPr bwMode="auto">
          <a:xfrm>
            <a:off x="2214514" y="1785914"/>
            <a:ext cx="15240000" cy="7343775"/>
          </a:xfrm>
          <a:prstGeom prst="rect">
            <a:avLst/>
          </a:prstGeom>
          <a:noFill/>
          <a:ln w="9525">
            <a:noFill/>
            <a:miter lim="800000"/>
            <a:headEnd/>
            <a:tailEnd/>
          </a:ln>
          <a:effectLst/>
        </p:spPr>
      </p:pic>
    </p:spTree>
    <p:extLst>
      <p:ext uri="{BB962C8B-B14F-4D97-AF65-F5344CB8AC3E}">
        <p14:creationId xmlns:p14="http://schemas.microsoft.com/office/powerpoint/2010/main" xmlns=""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xmlns=""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xmlns=""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xmlns=""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xmlns=""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xmlns=""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xmlns=""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xmlns=""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xmlns=""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xmlns=""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xmlns=""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xmlns=""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074" name="Picture 2"/>
          <p:cNvPicPr>
            <a:picLocks noChangeAspect="1" noChangeArrowheads="1"/>
          </p:cNvPicPr>
          <p:nvPr/>
        </p:nvPicPr>
        <p:blipFill>
          <a:blip r:embed="rId3"/>
          <a:srcRect/>
          <a:stretch>
            <a:fillRect/>
          </a:stretch>
        </p:blipFill>
        <p:spPr bwMode="auto">
          <a:xfrm>
            <a:off x="2143076" y="1643038"/>
            <a:ext cx="15240000" cy="7267575"/>
          </a:xfrm>
          <a:prstGeom prst="rect">
            <a:avLst/>
          </a:prstGeom>
          <a:noFill/>
          <a:ln w="9525">
            <a:noFill/>
            <a:miter lim="800000"/>
            <a:headEnd/>
            <a:tailEnd/>
          </a:ln>
          <a:effectLst/>
        </p:spPr>
      </p:pic>
    </p:spTree>
    <p:extLst>
      <p:ext uri="{BB962C8B-B14F-4D97-AF65-F5344CB8AC3E}">
        <p14:creationId xmlns:p14="http://schemas.microsoft.com/office/powerpoint/2010/main" xmlns=""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5B2B9C-B3AF-6A97-F1F3-2CB010E84489}"/>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xmlns="" id="{A778492B-B464-6A2F-9D2D-7B3B7685C0E5}"/>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xmlns="" id="{4B9F66B7-C1AF-6854-7831-64D568E50A6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9" name="TextBox 9">
              <a:extLst>
                <a:ext uri="{FF2B5EF4-FFF2-40B4-BE49-F238E27FC236}">
                  <a16:creationId xmlns:a16="http://schemas.microsoft.com/office/drawing/2014/main" xmlns="" id="{CCD98FCE-B257-0278-CBAD-313B5FFCC308}"/>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xmlns="" id="{89C1604E-15FC-020D-BD29-58DFD83F92BB}"/>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xmlns="" id="{1F3BFC53-431B-DF43-9ED4-877C54E7DE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2" name="TextBox 12">
              <a:extLst>
                <a:ext uri="{FF2B5EF4-FFF2-40B4-BE49-F238E27FC236}">
                  <a16:creationId xmlns:a16="http://schemas.microsoft.com/office/drawing/2014/main" xmlns="" id="{F6329F8C-F7E4-BCA9-1FE0-22BD4DDAD53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xmlns="" id="{A170A6C6-637C-E034-285C-4ED54A607A1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xmlns="" id="{4CBF09FF-73DF-1A02-F9E4-8EB8A17169C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5" name="TextBox 15">
              <a:extLst>
                <a:ext uri="{FF2B5EF4-FFF2-40B4-BE49-F238E27FC236}">
                  <a16:creationId xmlns:a16="http://schemas.microsoft.com/office/drawing/2014/main" xmlns="" id="{77FFBF7D-FC9A-57B9-9238-6F02E50A95F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xmlns="" id="{D2087D45-BD9C-2C3C-890E-E963D1E2294B}"/>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xmlns="" id="{B63A04D1-3248-9D75-89FD-C04564DB7BB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8" name="TextBox 18">
              <a:extLst>
                <a:ext uri="{FF2B5EF4-FFF2-40B4-BE49-F238E27FC236}">
                  <a16:creationId xmlns:a16="http://schemas.microsoft.com/office/drawing/2014/main" xmlns="" id="{E984A195-D4C7-250A-9746-28C4F3A57A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xmlns="" id="{CBBD3D96-5F31-73A8-4701-8046A82969DC}"/>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xmlns="" id="{1A99639F-03BF-C3D2-DB20-7098A6CA32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1" name="TextBox 21">
              <a:extLst>
                <a:ext uri="{FF2B5EF4-FFF2-40B4-BE49-F238E27FC236}">
                  <a16:creationId xmlns:a16="http://schemas.microsoft.com/office/drawing/2014/main" xmlns="" id="{45D24A93-55BC-0B8C-B3DB-17ABE08A892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xmlns="" id="{E8A0A591-B740-2DAB-E582-1E67629CCF7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xmlns="" id="{51FAFB9A-32AF-0C09-B922-5869CB6D9F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4" name="TextBox 24">
              <a:extLst>
                <a:ext uri="{FF2B5EF4-FFF2-40B4-BE49-F238E27FC236}">
                  <a16:creationId xmlns:a16="http://schemas.microsoft.com/office/drawing/2014/main" xmlns="" id="{C86E26F0-DFEA-4BD3-2231-C49AF9C3504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xmlns="" id="{5C1A9DA2-D681-B844-2822-2734B492A4B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xmlns="" id="{229090B5-17D0-D877-B876-C2CF67245E4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7" name="TextBox 27">
              <a:extLst>
                <a:ext uri="{FF2B5EF4-FFF2-40B4-BE49-F238E27FC236}">
                  <a16:creationId xmlns:a16="http://schemas.microsoft.com/office/drawing/2014/main" xmlns="" id="{BFF9C5D4-1E57-7846-DFD2-22E0A843E57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xmlns="" id="{9188B3AC-C569-6591-5151-35962E792B7B}"/>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xmlns="" id="{26B764F7-1936-87CB-B786-AA4A233194C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0" name="TextBox 30">
              <a:extLst>
                <a:ext uri="{FF2B5EF4-FFF2-40B4-BE49-F238E27FC236}">
                  <a16:creationId xmlns:a16="http://schemas.microsoft.com/office/drawing/2014/main" xmlns="" id="{6888215E-F47E-9C4E-B8CB-FABDA4BA17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xmlns="" id="{6D2C61BD-1CF4-3936-2975-140763D4055C}"/>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xmlns="" id="{BAA4EF46-DB4C-691C-49AA-45067627E42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3" name="TextBox 33">
              <a:extLst>
                <a:ext uri="{FF2B5EF4-FFF2-40B4-BE49-F238E27FC236}">
                  <a16:creationId xmlns:a16="http://schemas.microsoft.com/office/drawing/2014/main" xmlns="" id="{C0CB1502-1897-E824-DF34-382E006B54B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xmlns="" id="{2381DA07-108B-76B4-7CF2-3F1D832D537B}"/>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35" name="Group 35">
            <a:extLst>
              <a:ext uri="{FF2B5EF4-FFF2-40B4-BE49-F238E27FC236}">
                <a16:creationId xmlns:a16="http://schemas.microsoft.com/office/drawing/2014/main" xmlns="" id="{B7920102-13E4-8DF2-A0FC-3CFA1B892BE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xmlns="" id="{9BF9D02B-4D33-DC3B-1B55-E8AFED57053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US"/>
            </a:p>
          </p:txBody>
        </p:sp>
        <p:sp>
          <p:nvSpPr>
            <p:cNvPr id="37" name="TextBox 37">
              <a:extLst>
                <a:ext uri="{FF2B5EF4-FFF2-40B4-BE49-F238E27FC236}">
                  <a16:creationId xmlns:a16="http://schemas.microsoft.com/office/drawing/2014/main" xmlns="" id="{5A9BE89E-C98A-D427-4561-0276778C8843}"/>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xmlns="" id="{8888E0F9-8449-695A-ED03-1D154D4A3F2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xmlns="" id="{5B9EDCF4-226C-172C-95D4-12AE5C8E3CE3}"/>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a:extLst>
              <a:ext uri="{FF2B5EF4-FFF2-40B4-BE49-F238E27FC236}">
                <a16:creationId xmlns:a16="http://schemas.microsoft.com/office/drawing/2014/main" xmlns="" id="{D74A1905-BB27-35DC-3278-895666E00E24}"/>
              </a:ext>
            </a:extLst>
          </p:cNvPr>
          <p:cNvPicPr>
            <a:picLocks noChangeAspect="1"/>
          </p:cNvPicPr>
          <p:nvPr/>
        </p:nvPicPr>
        <p:blipFill>
          <a:blip r:embed="rId3">
            <a:extLst>
              <a:ext uri="{28A0092B-C50C-407E-A947-70E740481C1C}">
                <a14:useLocalDpi xmlns:a14="http://schemas.microsoft.com/office/drawing/2010/main" xmlns="" val="0"/>
              </a:ext>
            </a:extLst>
          </a:blip>
          <a:stretch>
            <a:fillRect/>
          </a:stretch>
        </p:blipFill>
        <p:spPr>
          <a:xfrm>
            <a:off x="2295509" y="2118013"/>
            <a:ext cx="14547841" cy="6927180"/>
          </a:xfrm>
          <a:prstGeom prst="rect">
            <a:avLst/>
          </a:prstGeom>
        </p:spPr>
      </p:pic>
    </p:spTree>
    <p:extLst>
      <p:ext uri="{BB962C8B-B14F-4D97-AF65-F5344CB8AC3E}">
        <p14:creationId xmlns:p14="http://schemas.microsoft.com/office/powerpoint/2010/main" xmlns="" val="58570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xmlns=""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xmlns=""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xmlns=""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US"/>
            </a:p>
          </p:txBody>
        </p:sp>
        <p:sp>
          <p:nvSpPr>
            <p:cNvPr id="7" name="TextBox 7">
              <a:extLst>
                <a:ext uri="{FF2B5EF4-FFF2-40B4-BE49-F238E27FC236}">
                  <a16:creationId xmlns:a16="http://schemas.microsoft.com/office/drawing/2014/main" xmlns=""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xmlns=""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xmlns=""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0" name="TextBox 10">
              <a:extLst>
                <a:ext uri="{FF2B5EF4-FFF2-40B4-BE49-F238E27FC236}">
                  <a16:creationId xmlns:a16="http://schemas.microsoft.com/office/drawing/2014/main" xmlns=""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xmlns=""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xmlns=""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3" name="TextBox 13">
              <a:extLst>
                <a:ext uri="{FF2B5EF4-FFF2-40B4-BE49-F238E27FC236}">
                  <a16:creationId xmlns:a16="http://schemas.microsoft.com/office/drawing/2014/main" xmlns=""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xmlns=""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xmlns=""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6" name="TextBox 16">
              <a:extLst>
                <a:ext uri="{FF2B5EF4-FFF2-40B4-BE49-F238E27FC236}">
                  <a16:creationId xmlns:a16="http://schemas.microsoft.com/office/drawing/2014/main" xmlns=""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xmlns=""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xmlns=""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19" name="TextBox 19">
              <a:extLst>
                <a:ext uri="{FF2B5EF4-FFF2-40B4-BE49-F238E27FC236}">
                  <a16:creationId xmlns:a16="http://schemas.microsoft.com/office/drawing/2014/main" xmlns=""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xmlns=""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xmlns=""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2" name="TextBox 22">
              <a:extLst>
                <a:ext uri="{FF2B5EF4-FFF2-40B4-BE49-F238E27FC236}">
                  <a16:creationId xmlns:a16="http://schemas.microsoft.com/office/drawing/2014/main" xmlns=""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xmlns=""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xmlns=""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5" name="TextBox 25">
              <a:extLst>
                <a:ext uri="{FF2B5EF4-FFF2-40B4-BE49-F238E27FC236}">
                  <a16:creationId xmlns:a16="http://schemas.microsoft.com/office/drawing/2014/main" xmlns=""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xmlns=""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xmlns=""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28" name="TextBox 28">
              <a:extLst>
                <a:ext uri="{FF2B5EF4-FFF2-40B4-BE49-F238E27FC236}">
                  <a16:creationId xmlns:a16="http://schemas.microsoft.com/office/drawing/2014/main" xmlns=""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xmlns=""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xmlns=""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US"/>
            </a:p>
          </p:txBody>
        </p:sp>
        <p:sp>
          <p:nvSpPr>
            <p:cNvPr id="31" name="TextBox 31">
              <a:extLst>
                <a:ext uri="{FF2B5EF4-FFF2-40B4-BE49-F238E27FC236}">
                  <a16:creationId xmlns:a16="http://schemas.microsoft.com/office/drawing/2014/main" xmlns=""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xmlns=""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grpSp>
        <p:nvGrpSpPr>
          <p:cNvPr id="44" name="Group 44">
            <a:extLst>
              <a:ext uri="{FF2B5EF4-FFF2-40B4-BE49-F238E27FC236}">
                <a16:creationId xmlns:a16="http://schemas.microsoft.com/office/drawing/2014/main" xmlns=""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xmlns=""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a:extLst>
                <a:ext uri="{FF2B5EF4-FFF2-40B4-BE49-F238E27FC236}">
                  <a16:creationId xmlns:a16="http://schemas.microsoft.com/office/drawing/2014/main" xmlns=""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xmlns=""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xmlns="" id="{05F4B910-3C19-1342-AB83-20DCCA6744B8}"/>
              </a:ext>
            </a:extLst>
          </p:cNvPr>
          <p:cNvSpPr txBox="1"/>
          <p:nvPr/>
        </p:nvSpPr>
        <p:spPr>
          <a:xfrm>
            <a:off x="2516626" y="2475171"/>
            <a:ext cx="13877208" cy="683264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Advantages :</a:t>
            </a:r>
          </a:p>
          <a:p>
            <a:endParaRPr lang="en-US" sz="24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Provides a centralized platform for managing all campus events efficiently.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Reduces manual work and minimizes errors in event handling.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Enables easy event registration and access for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Improves communication between administrators and students.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Ensures better data management and real-time update.</a:t>
            </a:r>
          </a:p>
          <a:p>
            <a:pPr marL="342900" indent="-342900">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Limitations :</a:t>
            </a:r>
          </a:p>
          <a:p>
            <a:endParaRPr lang="en-US" sz="2800" b="1"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Requires internet connection for access and functionality.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Basic security implementation (can be improved for real-world deployment).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Limited scalability for very large institutions or heavy traffic.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Depends on proper database configuration and maintenance.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UI/UX may be simple and can be enhanced further. </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xmlns=""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xmlns="" r:embed="rId2"/>
                </a:ext>
              </a:extLst>
            </a:blip>
            <a:stretch>
              <a:fillRect/>
            </a:stretch>
          </a:blipFill>
        </p:spPr>
        <p:txBody>
          <a:bodyPr/>
          <a:lstStyle/>
          <a:p>
            <a:endParaRPr lang="en-US"/>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US"/>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1236</TotalTime>
  <Words>927</Words>
  <Application>Microsoft Office PowerPoint</Application>
  <PresentationFormat>Custom</PresentationFormat>
  <Paragraphs>380</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Cambria</vt:lpstr>
      <vt:lpstr>Bookman Old Style</vt:lpstr>
      <vt:lpstr>Times New Roman</vt:lpstr>
      <vt:lpstr>Gotham</vt:lpstr>
      <vt:lpstr>Gotham Bold Italics</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Gali Kalpana</dc:creator>
  <cp:lastModifiedBy>P JAHNAVI</cp:lastModifiedBy>
  <cp:revision>17</cp:revision>
  <dcterms:created xsi:type="dcterms:W3CDTF">2006-08-16T00:00:00Z</dcterms:created>
  <dcterms:modified xsi:type="dcterms:W3CDTF">2026-05-06T05:09:35Z</dcterms:modified>
  <dc:identifier>DAHCaYqJ9OU</dc:identifier>
</cp:coreProperties>
</file>